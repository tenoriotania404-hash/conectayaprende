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412BD-E69C-4982-A31A-48E077C2A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159" y="520861"/>
            <a:ext cx="10764456" cy="5261374"/>
          </a:xfrm>
        </p:spPr>
        <p:txBody>
          <a:bodyPr>
            <a:normAutofit/>
          </a:bodyPr>
          <a:lstStyle/>
          <a:p>
            <a:br>
              <a:rPr lang="es-MX" sz="1300" dirty="0"/>
            </a:br>
            <a:r>
              <a:rPr lang="es-MX" sz="2400" dirty="0">
                <a:latin typeface="Algerian" panose="04020705040A02060702" pitchFamily="82" charset="0"/>
              </a:rPr>
              <a:t>Colegio de estudios científicos y tecnológicos del estado de México plantel </a:t>
            </a:r>
            <a:r>
              <a:rPr lang="es-MX" sz="2400" dirty="0" err="1">
                <a:latin typeface="Algerian" panose="04020705040A02060702" pitchFamily="82" charset="0"/>
              </a:rPr>
              <a:t>cecytem</a:t>
            </a:r>
            <a:br>
              <a:rPr lang="es-MX" sz="2400" dirty="0">
                <a:latin typeface="Algerian" panose="04020705040A02060702" pitchFamily="82" charset="0"/>
              </a:rPr>
            </a:br>
            <a:br>
              <a:rPr lang="es-MX" sz="1300" dirty="0">
                <a:latin typeface="Algerian" panose="04020705040A02060702" pitchFamily="82" charset="0"/>
              </a:rPr>
            </a:br>
            <a:r>
              <a:rPr lang="es-MX" sz="1300" dirty="0"/>
              <a:t>proyecto</a:t>
            </a:r>
            <a:r>
              <a:rPr lang="es-MX" sz="1300" dirty="0">
                <a:latin typeface="Bernard MT Condensed" panose="02050806060905020404" pitchFamily="18" charset="0"/>
              </a:rPr>
              <a:t>: </a:t>
            </a:r>
            <a:r>
              <a:rPr lang="es-MX" sz="2800" dirty="0" err="1">
                <a:latin typeface="Bernard MT Condensed" panose="02050806060905020404" pitchFamily="18" charset="0"/>
              </a:rPr>
              <a:t>cecytos</a:t>
            </a:r>
            <a:r>
              <a:rPr lang="es-MX" sz="2800" dirty="0">
                <a:latin typeface="Bernard MT Condensed" panose="02050806060905020404" pitchFamily="18" charset="0"/>
              </a:rPr>
              <a:t> web</a:t>
            </a:r>
            <a:br>
              <a:rPr lang="es-MX" sz="2800" dirty="0">
                <a:latin typeface="Bernard MT Condensed" panose="02050806060905020404" pitchFamily="18" charset="0"/>
              </a:rPr>
            </a:br>
            <a:r>
              <a:rPr lang="es-MX" sz="2800" dirty="0">
                <a:latin typeface="Bernard MT Condensed" panose="02050806060905020404" pitchFamily="18" charset="0"/>
              </a:rPr>
              <a:t>(oficios para el desarrollo personal y laboral)</a:t>
            </a:r>
            <a:br>
              <a:rPr lang="es-MX" sz="2800" dirty="0">
                <a:latin typeface="Bernard MT Condensed" panose="02050806060905020404" pitchFamily="18" charset="0"/>
              </a:rPr>
            </a:br>
            <a:br>
              <a:rPr lang="es-MX" sz="2800" dirty="0">
                <a:latin typeface="Bernard MT Condensed" panose="02050806060905020404" pitchFamily="18" charset="0"/>
              </a:rPr>
            </a:br>
            <a:r>
              <a:rPr lang="es-MX" sz="1300" dirty="0"/>
              <a:t>equipo</a:t>
            </a:r>
            <a:r>
              <a:rPr lang="es-MX" sz="1300" dirty="0">
                <a:latin typeface="Book Antiqua" panose="02040602050305030304" pitchFamily="18" charset="0"/>
              </a:rPr>
              <a:t>: </a:t>
            </a:r>
            <a:r>
              <a:rPr lang="es-MX" sz="2400" dirty="0">
                <a:latin typeface="Book Antiqua" panose="02040602050305030304" pitchFamily="18" charset="0"/>
              </a:rPr>
              <a:t>maria de jesus piña dominguez</a:t>
            </a:r>
            <a:br>
              <a:rPr lang="es-MX" sz="2400" dirty="0">
                <a:latin typeface="Book Antiqua" panose="02040602050305030304" pitchFamily="18" charset="0"/>
              </a:rPr>
            </a:br>
            <a:r>
              <a:rPr lang="es-MX" sz="2400" dirty="0">
                <a:latin typeface="Book Antiqua" panose="02040602050305030304" pitchFamily="18" charset="0"/>
              </a:rPr>
              <a:t>Jonathan rosas francisco</a:t>
            </a:r>
            <a:br>
              <a:rPr lang="es-MX" sz="2400" dirty="0">
                <a:latin typeface="Book Antiqua" panose="02040602050305030304" pitchFamily="18" charset="0"/>
              </a:rPr>
            </a:br>
            <a:r>
              <a:rPr lang="es-MX" sz="2400" dirty="0">
                <a:latin typeface="Book Antiqua" panose="02040602050305030304" pitchFamily="18" charset="0"/>
              </a:rPr>
              <a:t>Kenia tenorio Severiano</a:t>
            </a:r>
            <a:br>
              <a:rPr lang="es-MX" sz="2400" dirty="0">
                <a:latin typeface="Book Antiqua" panose="02040602050305030304" pitchFamily="18" charset="0"/>
              </a:rPr>
            </a:br>
            <a:r>
              <a:rPr lang="es-MX" sz="2400" dirty="0">
                <a:latin typeface="Book Antiqua" panose="02040602050305030304" pitchFamily="18" charset="0"/>
              </a:rPr>
              <a:t>Tania tenorio Severiano</a:t>
            </a:r>
            <a:br>
              <a:rPr lang="es-MX" sz="2400" dirty="0">
                <a:latin typeface="Book Antiqua" panose="02040602050305030304" pitchFamily="18" charset="0"/>
              </a:rPr>
            </a:br>
            <a:r>
              <a:rPr lang="es-MX" sz="2400" dirty="0">
                <a:latin typeface="Book Antiqua" panose="02040602050305030304" pitchFamily="18" charset="0"/>
              </a:rPr>
              <a:t>Brenda Uribe Enríquez</a:t>
            </a:r>
            <a:br>
              <a:rPr lang="es-MX" sz="2400" dirty="0">
                <a:latin typeface="Book Antiqua" panose="02040602050305030304" pitchFamily="18" charset="0"/>
              </a:rPr>
            </a:br>
            <a:r>
              <a:rPr lang="es-MX" sz="2400" dirty="0">
                <a:latin typeface="Book Antiqua" panose="02040602050305030304" pitchFamily="18" charset="0"/>
              </a:rPr>
              <a:t>Gabriel Vázquez</a:t>
            </a:r>
            <a:br>
              <a:rPr lang="es-MX" sz="2400" dirty="0">
                <a:latin typeface="Book Antiqua" panose="02040602050305030304" pitchFamily="18" charset="0"/>
              </a:rPr>
            </a:br>
            <a:br>
              <a:rPr lang="es-MX" sz="1300" dirty="0"/>
            </a:br>
            <a:r>
              <a:rPr lang="es-MX" sz="1600" dirty="0">
                <a:latin typeface="Bodoni MT Black" panose="02070A03080606020203" pitchFamily="18" charset="0"/>
              </a:rPr>
              <a:t>modulo 2: implementa bases de datos no relacionales</a:t>
            </a:r>
          </a:p>
        </p:txBody>
      </p:sp>
    </p:spTree>
    <p:extLst>
      <p:ext uri="{BB962C8B-B14F-4D97-AF65-F5344CB8AC3E}">
        <p14:creationId xmlns:p14="http://schemas.microsoft.com/office/powerpoint/2010/main" val="169880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71C60-721A-4CA8-AD3F-566C9FD5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44065"/>
          </a:xfrm>
        </p:spPr>
        <p:txBody>
          <a:bodyPr>
            <a:normAutofit/>
          </a:bodyPr>
          <a:lstStyle/>
          <a:p>
            <a:r>
              <a:rPr lang="es-419" sz="2000" dirty="0"/>
              <a:t>Objetivo: Conocer diferentes oficios que permiten desarrollar habilidades prácticas, generar ingresos y fomentar el emprendimiento.</a:t>
            </a:r>
            <a:br>
              <a:rPr lang="es-MX" sz="2000" dirty="0"/>
            </a:br>
            <a:endParaRPr lang="es-MX" sz="2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DD249C-0B6D-494C-A48C-6CB698422E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1273217"/>
            <a:ext cx="2604930" cy="215578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419" dirty="0"/>
              <a:t>¿Qué es un Oficio?</a:t>
            </a:r>
            <a:endParaRPr lang="es-MX" dirty="0"/>
          </a:p>
          <a:p>
            <a:r>
              <a:rPr lang="es-419" cap="none" dirty="0"/>
              <a:t>Un oficio es una actividad laboral que requiere conocimientos y habilidades prácticas adquiridas mediante la experiencia, capacitación o formación especializada.</a:t>
            </a:r>
            <a:endParaRPr lang="es-MX" cap="none" dirty="0"/>
          </a:p>
          <a:p>
            <a:pPr algn="just"/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99D9F2-FA2F-4CA4-B629-5359477FD324}"/>
              </a:ext>
            </a:extLst>
          </p:cNvPr>
          <p:cNvSpPr txBox="1"/>
          <p:nvPr/>
        </p:nvSpPr>
        <p:spPr>
          <a:xfrm>
            <a:off x="9533994" y="1443841"/>
            <a:ext cx="22107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IMPORTANCIA DE LOS OFICIOS</a:t>
            </a:r>
            <a:endParaRPr lang="es-MX" dirty="0"/>
          </a:p>
          <a:p>
            <a:r>
              <a:rPr lang="es-419" dirty="0"/>
              <a:t>• Contribuyen al desarrollo económico de la comunidad. </a:t>
            </a:r>
          </a:p>
          <a:p>
            <a:r>
              <a:rPr lang="es-419" dirty="0"/>
              <a:t> • Permiten satisfacer necesidades de la vida diaria.              • Favorecen la independencia económica. </a:t>
            </a:r>
          </a:p>
          <a:p>
            <a:r>
              <a:rPr lang="es-419" dirty="0"/>
              <a:t>• Generan oportunidades de empleo y autoempleo.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864BEB-9D4D-4350-9DB5-CAAB5D26D9D9}"/>
              </a:ext>
            </a:extLst>
          </p:cNvPr>
          <p:cNvSpPr txBox="1"/>
          <p:nvPr/>
        </p:nvSpPr>
        <p:spPr>
          <a:xfrm>
            <a:off x="4602866" y="3260405"/>
            <a:ext cx="34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OPORTUNIDADES LABORALES</a:t>
            </a:r>
            <a:endParaRPr lang="es-MX" dirty="0"/>
          </a:p>
          <a:p>
            <a:r>
              <a:rPr lang="es-419" dirty="0"/>
              <a:t>• Trabajo independiente.             • Negocio propio. </a:t>
            </a:r>
          </a:p>
          <a:p>
            <a:r>
              <a:rPr lang="es-419" dirty="0"/>
              <a:t>• Empleo en empresas y talleres.  • Prestación de servicios especializados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AC659A-00E2-41DE-811C-185961E0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32" y="3434386"/>
            <a:ext cx="3086554" cy="28449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2B6B9B-68B3-4DD8-B706-CF8AF1982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951" y="1596675"/>
            <a:ext cx="1752752" cy="13564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805D4C-EFD0-49DE-BA27-D6AF8D462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369" y="4476397"/>
            <a:ext cx="2331922" cy="156985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6A6D61B-E480-436F-9C8F-D0C497A94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666" y="1465535"/>
            <a:ext cx="2982993" cy="17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12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B3A7E-4411-4849-BF42-00AC64DF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31548"/>
          </a:xfrm>
        </p:spPr>
        <p:txBody>
          <a:bodyPr/>
          <a:lstStyle/>
          <a:p>
            <a:r>
              <a:rPr lang="es-ES" dirty="0"/>
              <a:t>CARPINTERIA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7E5AD-60EB-4760-ACE2-FD190C1572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46836"/>
            <a:ext cx="3056342" cy="2268637"/>
          </a:xfrm>
        </p:spPr>
        <p:txBody>
          <a:bodyPr>
            <a:normAutofit fontScale="85000" lnSpcReduction="20000"/>
          </a:bodyPr>
          <a:lstStyle/>
          <a:p>
            <a:r>
              <a:rPr lang="es-419" dirty="0"/>
              <a:t>La carpintería es el oficio dedicado a la fabricación, reparación y mantenimiento de muebles, puertas, ventanas y otros objetos elaborados con madera.</a:t>
            </a:r>
            <a:endParaRPr lang="es-MX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13CBDE-36D2-4B64-989B-186D83495458}"/>
              </a:ext>
            </a:extLst>
          </p:cNvPr>
          <p:cNvSpPr txBox="1"/>
          <p:nvPr/>
        </p:nvSpPr>
        <p:spPr>
          <a:xfrm>
            <a:off x="8059884" y="234403"/>
            <a:ext cx="32183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Actividades principales</a:t>
            </a:r>
            <a:endParaRPr lang="es-MX" dirty="0"/>
          </a:p>
          <a:p>
            <a:r>
              <a:rPr lang="es-419" dirty="0"/>
              <a:t>• Fabricación de muebles. </a:t>
            </a:r>
          </a:p>
          <a:p>
            <a:r>
              <a:rPr lang="es-419" dirty="0"/>
              <a:t>• Reparación de estructuras de madera. </a:t>
            </a:r>
          </a:p>
          <a:p>
            <a:r>
              <a:rPr lang="es-419" dirty="0"/>
              <a:t>• Instalación de puertas y ventanas.</a:t>
            </a:r>
          </a:p>
          <a:p>
            <a:r>
              <a:rPr lang="es-419" dirty="0"/>
              <a:t> • Diseño de productos personalizados.</a:t>
            </a:r>
            <a:endParaRPr lang="es-MX" dirty="0"/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03D76B-D295-461F-9FE6-8DC05180DEC0}"/>
              </a:ext>
            </a:extLst>
          </p:cNvPr>
          <p:cNvSpPr txBox="1"/>
          <p:nvPr/>
        </p:nvSpPr>
        <p:spPr>
          <a:xfrm>
            <a:off x="4143736" y="3654159"/>
            <a:ext cx="30563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Oportunidades laborales</a:t>
            </a:r>
            <a:endParaRPr lang="es-MX" dirty="0"/>
          </a:p>
          <a:p>
            <a:r>
              <a:rPr lang="es-419" dirty="0"/>
              <a:t>• Talleres de carpintería.</a:t>
            </a:r>
          </a:p>
          <a:p>
            <a:r>
              <a:rPr lang="es-419" dirty="0"/>
              <a:t>• Empresas constructoras. </a:t>
            </a:r>
          </a:p>
          <a:p>
            <a:r>
              <a:rPr lang="es-419" dirty="0"/>
              <a:t>• Negocio propio. </a:t>
            </a:r>
          </a:p>
          <a:p>
            <a:r>
              <a:rPr lang="es-419" dirty="0"/>
              <a:t>• Fabricación de muebles a medida.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C5EA8A-A596-4C93-A689-A243D654D953}"/>
              </a:ext>
            </a:extLst>
          </p:cNvPr>
          <p:cNvSpPr/>
          <p:nvPr/>
        </p:nvSpPr>
        <p:spPr>
          <a:xfrm>
            <a:off x="5050420" y="1935961"/>
            <a:ext cx="6096000" cy="16580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Herramientas básicas</a:t>
            </a: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• Martillo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  • Serrucho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    • Taladro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       • Lija</a:t>
            </a: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A7E3B39-F5CD-4412-B7BF-23BDFD4A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30" y="3886224"/>
            <a:ext cx="3914906" cy="235325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88EC11-DC93-44B3-BCCA-9C9C152B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78" y="2764970"/>
            <a:ext cx="4549361" cy="30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2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FD389-39C7-430E-B59B-934588F6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550526"/>
          </a:xfrm>
        </p:spPr>
        <p:txBody>
          <a:bodyPr>
            <a:normAutofit fontScale="90000"/>
          </a:bodyPr>
          <a:lstStyle/>
          <a:p>
            <a:r>
              <a:rPr lang="es-419" cap="none" dirty="0"/>
              <a:t>BENEFICIOS </a:t>
            </a:r>
            <a:r>
              <a:rPr lang="es-419" dirty="0"/>
              <a:t>de la Carpintería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D7D7C-091D-49E9-9F11-C1C9AC7B6D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757" y="1284790"/>
            <a:ext cx="4409954" cy="49546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419" dirty="0"/>
              <a:t>Beneficios</a:t>
            </a:r>
            <a:endParaRPr lang="es-MX" dirty="0"/>
          </a:p>
          <a:p>
            <a:pPr marL="0" indent="0">
              <a:buNone/>
            </a:pPr>
            <a:r>
              <a:rPr lang="es-419" dirty="0"/>
              <a:t>• Desarrolla la creatividad y el diseño. </a:t>
            </a:r>
          </a:p>
          <a:p>
            <a:pPr marL="0" indent="0">
              <a:buNone/>
            </a:pPr>
            <a:r>
              <a:rPr lang="es-419" dirty="0"/>
              <a:t>• Fortalece habilidades manuales. </a:t>
            </a:r>
          </a:p>
          <a:p>
            <a:pPr marL="0" indent="0">
              <a:buNone/>
            </a:pPr>
            <a:r>
              <a:rPr lang="es-419" dirty="0"/>
              <a:t>• Permite fabricar productos útiles. </a:t>
            </a:r>
          </a:p>
          <a:p>
            <a:pPr marL="0" indent="0">
              <a:buNone/>
            </a:pPr>
            <a:r>
              <a:rPr lang="es-419" dirty="0"/>
              <a:t>• Genera ingresos mediante trabajos personalizados. </a:t>
            </a:r>
          </a:p>
          <a:p>
            <a:pPr marL="0" indent="0">
              <a:buNone/>
            </a:pPr>
            <a:r>
              <a:rPr lang="es-419" dirty="0"/>
              <a:t>• Favorece la resolución de problemas prácticos.</a:t>
            </a:r>
            <a:endParaRPr lang="es-MX" dirty="0"/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79E89C-BD92-4D58-B9F1-DB2D050C7FCA}"/>
              </a:ext>
            </a:extLst>
          </p:cNvPr>
          <p:cNvSpPr txBox="1"/>
          <p:nvPr/>
        </p:nvSpPr>
        <p:spPr>
          <a:xfrm>
            <a:off x="8229784" y="1284789"/>
            <a:ext cx="33024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EJEMPLOS DE PRODUCTOS</a:t>
            </a:r>
            <a:endParaRPr lang="es-MX" dirty="0"/>
          </a:p>
          <a:p>
            <a:r>
              <a:rPr lang="es-419" dirty="0"/>
              <a:t>• Mesas </a:t>
            </a:r>
          </a:p>
          <a:p>
            <a:r>
              <a:rPr lang="es-419" dirty="0"/>
              <a:t>• Sillas </a:t>
            </a:r>
          </a:p>
          <a:p>
            <a:r>
              <a:rPr lang="es-419" dirty="0"/>
              <a:t>• Estanterías </a:t>
            </a:r>
          </a:p>
          <a:p>
            <a:r>
              <a:rPr lang="es-419" dirty="0"/>
              <a:t>• Puertas </a:t>
            </a:r>
          </a:p>
          <a:p>
            <a:r>
              <a:rPr lang="es-419" dirty="0"/>
              <a:t>• Marcos decorativos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987AEB-F35A-41E7-9395-DD14A17A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60216"/>
            <a:ext cx="4873278" cy="19371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BB33F22-4D31-4823-92AB-75D6A1D96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249" y="1124142"/>
            <a:ext cx="2658996" cy="282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6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1375B-D076-4E7F-B7F9-F625B2CA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31549"/>
          </a:xfrm>
        </p:spPr>
        <p:txBody>
          <a:bodyPr/>
          <a:lstStyle/>
          <a:p>
            <a:r>
              <a:rPr lang="es-419" dirty="0"/>
              <a:t>Panadería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E3F0C7-FFF8-4A44-881F-CB6F6BCC9B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3930" y="1412112"/>
            <a:ext cx="4109012" cy="4548850"/>
          </a:xfrm>
        </p:spPr>
        <p:txBody>
          <a:bodyPr/>
          <a:lstStyle/>
          <a:p>
            <a:r>
              <a:rPr lang="es-419"/>
              <a:t>La panadería consiste en la elaboración de pan, pasteles y otros productos horneados para el consumo diario.</a:t>
            </a:r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6B084-85DD-4E84-965B-63A7FEFB3979}"/>
              </a:ext>
            </a:extLst>
          </p:cNvPr>
          <p:cNvSpPr txBox="1"/>
          <p:nvPr/>
        </p:nvSpPr>
        <p:spPr>
          <a:xfrm>
            <a:off x="5291162" y="1889408"/>
            <a:ext cx="31600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ACTIVIDADES PRINCIPALES</a:t>
            </a:r>
            <a:endParaRPr lang="es-MX" dirty="0"/>
          </a:p>
          <a:p>
            <a:r>
              <a:rPr lang="es-419" dirty="0"/>
              <a:t>• Preparación de masas.</a:t>
            </a:r>
          </a:p>
          <a:p>
            <a:r>
              <a:rPr lang="es-419" dirty="0"/>
              <a:t>• Horneado de productos.</a:t>
            </a:r>
          </a:p>
          <a:p>
            <a:r>
              <a:rPr lang="es-419" dirty="0"/>
              <a:t>• Decoración de panes y pasteles. </a:t>
            </a:r>
          </a:p>
          <a:p>
            <a:r>
              <a:rPr lang="es-419" dirty="0"/>
              <a:t>• Venta y distribución.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16EEAD-AF7C-47A8-8CF9-D15F57243FE9}"/>
              </a:ext>
            </a:extLst>
          </p:cNvPr>
          <p:cNvSpPr txBox="1"/>
          <p:nvPr/>
        </p:nvSpPr>
        <p:spPr>
          <a:xfrm>
            <a:off x="5876424" y="4410672"/>
            <a:ext cx="3020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HERRAMIENTAS BÁSICAS</a:t>
            </a:r>
            <a:endParaRPr lang="es-MX" dirty="0"/>
          </a:p>
          <a:p>
            <a:r>
              <a:rPr lang="es-419" dirty="0"/>
              <a:t>• Horno </a:t>
            </a:r>
          </a:p>
          <a:p>
            <a:r>
              <a:rPr lang="es-419" dirty="0"/>
              <a:t>• Batidora </a:t>
            </a:r>
          </a:p>
          <a:p>
            <a:r>
              <a:rPr lang="es-419" dirty="0"/>
              <a:t>• Moldes </a:t>
            </a:r>
          </a:p>
          <a:p>
            <a:r>
              <a:rPr lang="es-419" dirty="0"/>
              <a:t>• Báscula</a:t>
            </a:r>
            <a:endParaRPr lang="es-MX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307AB3-06C9-4AA6-91E9-62DA8FDD81B7}"/>
              </a:ext>
            </a:extLst>
          </p:cNvPr>
          <p:cNvSpPr txBox="1"/>
          <p:nvPr/>
        </p:nvSpPr>
        <p:spPr>
          <a:xfrm>
            <a:off x="8869385" y="735246"/>
            <a:ext cx="2300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IMPORTANCIA</a:t>
            </a:r>
            <a:endParaRPr lang="es-MX" dirty="0"/>
          </a:p>
          <a:p>
            <a:r>
              <a:rPr lang="es-419" dirty="0"/>
              <a:t>Los productos de panadería forman parte de la alimentación cotidiana de millones de personas.</a:t>
            </a:r>
            <a:endParaRPr lang="es-MX" dirty="0"/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B2FCBA-F124-47A3-8A15-757A6DD0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385" y="3545727"/>
            <a:ext cx="2217612" cy="17298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411575C-B857-4911-B3A0-8B50D72F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30" y="3051185"/>
            <a:ext cx="4041152" cy="30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E3F0C7-FFF8-4A44-881F-CB6F6BCC9B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4401" y="1317812"/>
            <a:ext cx="5558118" cy="236158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-419" dirty="0"/>
              <a:t>Beneficios</a:t>
            </a:r>
            <a:endParaRPr lang="es-MX" dirty="0"/>
          </a:p>
          <a:p>
            <a:pPr marL="0" indent="0">
              <a:buNone/>
            </a:pPr>
            <a:r>
              <a:rPr lang="es-419" dirty="0"/>
              <a:t>• Alta demanda de productos. </a:t>
            </a:r>
          </a:p>
          <a:p>
            <a:pPr marL="0" indent="0">
              <a:buNone/>
            </a:pPr>
            <a:r>
              <a:rPr lang="es-419" dirty="0"/>
              <a:t>• Posibilidad de iniciar un negocio propio. </a:t>
            </a:r>
          </a:p>
          <a:p>
            <a:pPr marL="0" indent="0">
              <a:buNone/>
            </a:pPr>
            <a:r>
              <a:rPr lang="es-419" dirty="0"/>
              <a:t>• Desarrollo de habilidades culinarias. </a:t>
            </a:r>
          </a:p>
          <a:p>
            <a:pPr marL="0" indent="0">
              <a:buNone/>
            </a:pPr>
            <a:r>
              <a:rPr lang="es-419" dirty="0"/>
              <a:t>• Generación constante de ingresos. </a:t>
            </a:r>
          </a:p>
          <a:p>
            <a:pPr marL="0" indent="0">
              <a:buNone/>
            </a:pPr>
            <a:r>
              <a:rPr lang="es-419" dirty="0"/>
              <a:t>• Creatividad en la elaboración de productos.</a:t>
            </a:r>
            <a:endParaRPr lang="es-MX" dirty="0"/>
          </a:p>
          <a:p>
            <a:endParaRPr lang="es-MX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CF1F54E-7689-44F4-BBDB-4BFD3A0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s-419" dirty="0"/>
              <a:t>Beneficios de la Panadería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25A9C4-9E4B-4858-A16C-33BE934F469E}"/>
              </a:ext>
            </a:extLst>
          </p:cNvPr>
          <p:cNvSpPr txBox="1"/>
          <p:nvPr/>
        </p:nvSpPr>
        <p:spPr>
          <a:xfrm>
            <a:off x="913775" y="1606718"/>
            <a:ext cx="28827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Beneficios</a:t>
            </a:r>
            <a:endParaRPr lang="es-MX" dirty="0"/>
          </a:p>
          <a:p>
            <a:r>
              <a:rPr lang="es-419" dirty="0"/>
              <a:t>• Alta demanda de productos. </a:t>
            </a:r>
          </a:p>
          <a:p>
            <a:r>
              <a:rPr lang="es-419" dirty="0"/>
              <a:t>• Posibilidad de iniciar un negocio propio. </a:t>
            </a:r>
          </a:p>
          <a:p>
            <a:r>
              <a:rPr lang="es-419" dirty="0"/>
              <a:t>• Desarrollo de habilidades culinarias. </a:t>
            </a:r>
          </a:p>
          <a:p>
            <a:r>
              <a:rPr lang="es-419" dirty="0"/>
              <a:t>• Generación constante de ingresos. </a:t>
            </a:r>
          </a:p>
          <a:p>
            <a:r>
              <a:rPr lang="es-419" dirty="0"/>
              <a:t>• Creatividad en la elaboración de productos.</a:t>
            </a:r>
            <a:endParaRPr lang="es-MX" dirty="0"/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B4C1A9-2771-4D7B-8606-C9FB51221D0B}"/>
              </a:ext>
            </a:extLst>
          </p:cNvPr>
          <p:cNvSpPr txBox="1"/>
          <p:nvPr/>
        </p:nvSpPr>
        <p:spPr>
          <a:xfrm>
            <a:off x="4226916" y="4826675"/>
            <a:ext cx="33450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Productos elaborados</a:t>
            </a:r>
            <a:endParaRPr lang="es-MX" dirty="0"/>
          </a:p>
          <a:p>
            <a:r>
              <a:rPr lang="es-419" dirty="0"/>
              <a:t>• Pan dulce </a:t>
            </a:r>
          </a:p>
          <a:p>
            <a:r>
              <a:rPr lang="es-419" dirty="0"/>
              <a:t>• Pan blanco </a:t>
            </a:r>
          </a:p>
          <a:p>
            <a:r>
              <a:rPr lang="es-419" dirty="0"/>
              <a:t>• Pasteles</a:t>
            </a:r>
          </a:p>
          <a:p>
            <a:r>
              <a:rPr lang="es-419" dirty="0"/>
              <a:t>• Galletas</a:t>
            </a:r>
          </a:p>
          <a:p>
            <a:r>
              <a:rPr lang="es-419" dirty="0"/>
              <a:t>• Postres</a:t>
            </a:r>
            <a:endParaRPr lang="es-MX" dirty="0"/>
          </a:p>
          <a:p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619684-7E4A-4F53-B2CD-5DA9FE336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829" y="3679393"/>
            <a:ext cx="4572396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2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09CE6-9262-4E74-A641-79C9A5D6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s-419" dirty="0"/>
              <a:t> Costura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91AF5-EF5E-41CE-9ADA-F6C28BDE2C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93135"/>
            <a:ext cx="3481763" cy="3126992"/>
          </a:xfrm>
        </p:spPr>
        <p:txBody>
          <a:bodyPr/>
          <a:lstStyle/>
          <a:p>
            <a:r>
              <a:rPr lang="es-419" dirty="0"/>
              <a:t>La costura es el oficio dedicado a confeccionar, modificar y reparar prendas de vestir y otros artículos textiles.</a:t>
            </a:r>
            <a:endParaRPr lang="es-MX" dirty="0"/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CAC8DD-2146-4902-B617-4C0E873959E1}"/>
              </a:ext>
            </a:extLst>
          </p:cNvPr>
          <p:cNvSpPr txBox="1"/>
          <p:nvPr/>
        </p:nvSpPr>
        <p:spPr>
          <a:xfrm>
            <a:off x="5234506" y="1674674"/>
            <a:ext cx="274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Actividades principales</a:t>
            </a:r>
            <a:endParaRPr lang="es-MX" dirty="0"/>
          </a:p>
          <a:p>
            <a:r>
              <a:rPr lang="es-419" dirty="0"/>
              <a:t>• Confección de ropa. </a:t>
            </a:r>
          </a:p>
          <a:p>
            <a:r>
              <a:rPr lang="es-419" dirty="0"/>
              <a:t>• Arreglos y reparaciones. </a:t>
            </a:r>
          </a:p>
          <a:p>
            <a:r>
              <a:rPr lang="es-419" dirty="0"/>
              <a:t>• Diseño de prendas. </a:t>
            </a:r>
          </a:p>
          <a:p>
            <a:r>
              <a:rPr lang="es-419" dirty="0"/>
              <a:t>• Elaboración de accesorios textiles.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ADACF2-870D-425C-ACFC-381A8C320767}"/>
              </a:ext>
            </a:extLst>
          </p:cNvPr>
          <p:cNvSpPr txBox="1"/>
          <p:nvPr/>
        </p:nvSpPr>
        <p:spPr>
          <a:xfrm>
            <a:off x="5582653" y="4299284"/>
            <a:ext cx="4026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Herramientas básicas</a:t>
            </a:r>
            <a:endParaRPr lang="es-MX" dirty="0"/>
          </a:p>
          <a:p>
            <a:r>
              <a:rPr lang="es-419" dirty="0"/>
              <a:t>• Máquina de coser </a:t>
            </a:r>
          </a:p>
          <a:p>
            <a:r>
              <a:rPr lang="es-419" dirty="0"/>
              <a:t>• Tijeras </a:t>
            </a:r>
          </a:p>
          <a:p>
            <a:r>
              <a:rPr lang="es-419" dirty="0"/>
              <a:t>• Hilos </a:t>
            </a:r>
          </a:p>
          <a:p>
            <a:r>
              <a:rPr lang="es-419" dirty="0"/>
              <a:t>• Cinta métrica</a:t>
            </a:r>
            <a:endParaRPr lang="es-MX" dirty="0"/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53DC19-E4C0-4420-B7EC-875DB2B5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96" y="3743472"/>
            <a:ext cx="2917597" cy="27396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E0401A-461B-4F60-8A17-45F25423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706" y="1575033"/>
            <a:ext cx="4035545" cy="25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36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FB9FC-4C5D-41CC-A52F-C24FF1E3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00683"/>
          </a:xfrm>
        </p:spPr>
        <p:txBody>
          <a:bodyPr>
            <a:normAutofit fontScale="90000"/>
          </a:bodyPr>
          <a:lstStyle/>
          <a:p>
            <a:r>
              <a:rPr lang="es-419" dirty="0"/>
              <a:t>Beneficios de la Costura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065547-3918-4903-A6E5-5080EEA5F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79622"/>
            <a:ext cx="2872163" cy="306404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419" dirty="0"/>
              <a:t>Beneficios</a:t>
            </a:r>
            <a:endParaRPr lang="es-MX" dirty="0"/>
          </a:p>
          <a:p>
            <a:pPr marL="0" indent="0">
              <a:buNone/>
            </a:pPr>
            <a:r>
              <a:rPr lang="es-419" dirty="0"/>
              <a:t>• Permite crear ropa y accesorios personalizados. </a:t>
            </a:r>
          </a:p>
          <a:p>
            <a:pPr marL="0" indent="0">
              <a:buNone/>
            </a:pPr>
            <a:r>
              <a:rPr lang="es-419" dirty="0"/>
              <a:t>• Favorece la creatividad. • Genera oportunidades de autoempleo. </a:t>
            </a:r>
          </a:p>
          <a:p>
            <a:pPr marL="0" indent="0">
              <a:buNone/>
            </a:pPr>
            <a:r>
              <a:rPr lang="es-419" dirty="0"/>
              <a:t>• Reduce gastos al reparar prendas. </a:t>
            </a:r>
          </a:p>
          <a:p>
            <a:pPr marL="0" indent="0">
              <a:buNone/>
            </a:pPr>
            <a:r>
              <a:rPr lang="es-419" dirty="0"/>
              <a:t>• Desarrolla precisión y paciencia.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9740E9-C86D-4C25-B19E-088316F3ECD3}"/>
              </a:ext>
            </a:extLst>
          </p:cNvPr>
          <p:cNvSpPr txBox="1"/>
          <p:nvPr/>
        </p:nvSpPr>
        <p:spPr>
          <a:xfrm>
            <a:off x="8170622" y="1219200"/>
            <a:ext cx="2390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Productos que pueden elaborarse</a:t>
            </a:r>
            <a:endParaRPr lang="es-MX" dirty="0"/>
          </a:p>
          <a:p>
            <a:r>
              <a:rPr lang="es-419" dirty="0"/>
              <a:t>• Vestidos </a:t>
            </a:r>
          </a:p>
          <a:p>
            <a:r>
              <a:rPr lang="es-419" dirty="0"/>
              <a:t>• Uniformes </a:t>
            </a:r>
          </a:p>
          <a:p>
            <a:r>
              <a:rPr lang="es-419" dirty="0"/>
              <a:t>• Bolsas </a:t>
            </a:r>
          </a:p>
          <a:p>
            <a:r>
              <a:rPr lang="es-419" dirty="0"/>
              <a:t>• Cortinas </a:t>
            </a:r>
          </a:p>
          <a:p>
            <a:r>
              <a:rPr lang="es-419" dirty="0"/>
              <a:t>• Accesorios textiles</a:t>
            </a:r>
            <a:endParaRPr lang="es-MX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5E05F8-2584-4A54-AAE9-41C44AA5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285" y="3881690"/>
            <a:ext cx="3288588" cy="19661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485866-D9F0-48B9-A9CB-1443F1AB3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23" y="4192651"/>
            <a:ext cx="3008214" cy="21869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A48380-D774-40AA-848A-269888EC3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165" y="1379622"/>
            <a:ext cx="2592789" cy="348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9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806FC-7E81-49F4-AAF8-CF64EF89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32767"/>
          </a:xfrm>
        </p:spPr>
        <p:txBody>
          <a:bodyPr>
            <a:normAutofit fontScale="90000"/>
          </a:bodyPr>
          <a:lstStyle/>
          <a:p>
            <a:r>
              <a:rPr lang="es-419" dirty="0"/>
              <a:t>Reparación de Celulares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3DB465-3638-4236-B438-81D2904D7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11706"/>
            <a:ext cx="4572626" cy="3288631"/>
          </a:xfrm>
        </p:spPr>
        <p:txBody>
          <a:bodyPr/>
          <a:lstStyle/>
          <a:p>
            <a:r>
              <a:rPr lang="es-419" cap="none" dirty="0"/>
              <a:t>La reparación de celulares consiste en diagnosticar y solucionar problemas de funcionamiento en dispositivos móviles.</a:t>
            </a:r>
            <a:endParaRPr lang="es-MX" cap="none" dirty="0"/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DF7CAE-1A85-4134-8457-4FBD96153B0B}"/>
              </a:ext>
            </a:extLst>
          </p:cNvPr>
          <p:cNvSpPr txBox="1"/>
          <p:nvPr/>
        </p:nvSpPr>
        <p:spPr>
          <a:xfrm>
            <a:off x="5791201" y="1251284"/>
            <a:ext cx="340092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000" dirty="0"/>
              <a:t>HERRAMIENTAS BÁSICAS</a:t>
            </a:r>
            <a:endParaRPr lang="es-MX" sz="2000" dirty="0"/>
          </a:p>
          <a:p>
            <a:r>
              <a:rPr lang="es-419" dirty="0"/>
              <a:t>• Destornilladores de precisión</a:t>
            </a:r>
          </a:p>
          <a:p>
            <a:r>
              <a:rPr lang="es-419" dirty="0"/>
              <a:t>• Pinzas </a:t>
            </a:r>
          </a:p>
          <a:p>
            <a:r>
              <a:rPr lang="es-419" dirty="0"/>
              <a:t>• Multímetro </a:t>
            </a:r>
          </a:p>
          <a:p>
            <a:r>
              <a:rPr lang="es-419" dirty="0"/>
              <a:t>• Kit de apertura</a:t>
            </a:r>
            <a:endParaRPr lang="es-MX" dirty="0"/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838725-E503-453E-A8B1-3DB6D0FC0564}"/>
              </a:ext>
            </a:extLst>
          </p:cNvPr>
          <p:cNvSpPr txBox="1"/>
          <p:nvPr/>
        </p:nvSpPr>
        <p:spPr>
          <a:xfrm>
            <a:off x="5486400" y="4011980"/>
            <a:ext cx="47003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ACTIVIDADES PRINCIPALES</a:t>
            </a:r>
            <a:endParaRPr lang="es-MX" dirty="0"/>
          </a:p>
          <a:p>
            <a:r>
              <a:rPr lang="es-419" dirty="0"/>
              <a:t>• Cambio de pantallas. </a:t>
            </a:r>
          </a:p>
          <a:p>
            <a:r>
              <a:rPr lang="es-419" dirty="0"/>
              <a:t>• Sustitución de baterías. </a:t>
            </a:r>
          </a:p>
          <a:p>
            <a:r>
              <a:rPr lang="es-419" dirty="0"/>
              <a:t>• Reparación de conectores. </a:t>
            </a:r>
          </a:p>
          <a:p>
            <a:r>
              <a:rPr lang="es-419" dirty="0"/>
              <a:t>• Actualización de software.</a:t>
            </a:r>
          </a:p>
          <a:p>
            <a:r>
              <a:rPr lang="es-419" dirty="0"/>
              <a:t>• Diagnóstico de fallas.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D16B75-83F2-4BC9-B9C5-F293865A1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28" y="3512010"/>
            <a:ext cx="4244251" cy="28886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90F58E-DB7C-41D5-8458-066D984D9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127" y="1961285"/>
            <a:ext cx="2762212" cy="25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4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367E9-EBE4-4F80-8E3C-4187BA13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16725"/>
          </a:xfrm>
        </p:spPr>
        <p:txBody>
          <a:bodyPr/>
          <a:lstStyle/>
          <a:p>
            <a:r>
              <a:rPr lang="es-419" dirty="0"/>
              <a:t>Beneficios de la Reparación de Celulares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43A6E2-ABE5-4E53-BAE7-06013A8352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35243"/>
            <a:ext cx="2727784" cy="3577390"/>
          </a:xfrm>
        </p:spPr>
        <p:txBody>
          <a:bodyPr>
            <a:normAutofit fontScale="70000" lnSpcReduction="20000"/>
          </a:bodyPr>
          <a:lstStyle/>
          <a:p>
            <a:r>
              <a:rPr lang="es-419" dirty="0"/>
              <a:t>Beneficios</a:t>
            </a:r>
            <a:endParaRPr lang="es-MX" dirty="0"/>
          </a:p>
          <a:p>
            <a:pPr marL="0" indent="0">
              <a:buNone/>
            </a:pPr>
            <a:r>
              <a:rPr lang="es-419" dirty="0"/>
              <a:t>• Gran demanda debido al uso masivo de teléfonos móviles. </a:t>
            </a:r>
          </a:p>
          <a:p>
            <a:pPr marL="0" indent="0">
              <a:buNone/>
            </a:pPr>
            <a:r>
              <a:rPr lang="es-419" dirty="0"/>
              <a:t>• Posibilidad de ingresos constantes. </a:t>
            </a:r>
          </a:p>
          <a:p>
            <a:pPr marL="0" indent="0">
              <a:buNone/>
            </a:pPr>
            <a:r>
              <a:rPr lang="es-419" dirty="0"/>
              <a:t>• Desarrollo de habilidades tecnológicas.</a:t>
            </a:r>
          </a:p>
          <a:p>
            <a:pPr marL="0" indent="0">
              <a:buNone/>
            </a:pPr>
            <a:r>
              <a:rPr lang="es-419" dirty="0"/>
              <a:t>• Bajo costo inicial comparado con otros negocios.</a:t>
            </a:r>
          </a:p>
          <a:p>
            <a:pPr marL="0" indent="0">
              <a:buNone/>
            </a:pPr>
            <a:r>
              <a:rPr lang="es-419" dirty="0"/>
              <a:t> • Oportunidades de crecimiento profesional.</a:t>
            </a:r>
            <a:endParaRPr lang="es-MX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B0FD5B-7153-478D-9C94-4AB26ECC2AFA}"/>
              </a:ext>
            </a:extLst>
          </p:cNvPr>
          <p:cNvSpPr txBox="1"/>
          <p:nvPr/>
        </p:nvSpPr>
        <p:spPr>
          <a:xfrm>
            <a:off x="7276037" y="1952419"/>
            <a:ext cx="3365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SERVICIOS MÁS SOLICITADOS</a:t>
            </a:r>
            <a:endParaRPr lang="es-MX" dirty="0"/>
          </a:p>
          <a:p>
            <a:r>
              <a:rPr lang="es-419" dirty="0"/>
              <a:t>• Cambio de pantalla. </a:t>
            </a:r>
          </a:p>
          <a:p>
            <a:r>
              <a:rPr lang="es-419" dirty="0"/>
              <a:t>• Cambio de batería. </a:t>
            </a:r>
          </a:p>
          <a:p>
            <a:r>
              <a:rPr lang="es-419" dirty="0"/>
              <a:t>• Reparación de puertos de carga. • Recuperación de software.</a:t>
            </a:r>
            <a:endParaRPr lang="es-MX" dirty="0"/>
          </a:p>
          <a:p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3542875-368D-4F34-B6FC-5E315A83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57" y="1343837"/>
            <a:ext cx="3580805" cy="40463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F70BF31-AFC4-4F79-BDF5-5AB370B3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396" y="3706745"/>
            <a:ext cx="3664830" cy="22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9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9A33F-04E6-4FA8-95CF-DC39C9E6C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s-ES" dirty="0"/>
              <a:t>COMPARACION DE OFICIOS</a:t>
            </a:r>
            <a:endParaRPr lang="es-MX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D500D1F-A1B0-4D8E-BF8D-64AF4DC1026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1164349"/>
              </p:ext>
            </p:extLst>
          </p:nvPr>
        </p:nvGraphicFramePr>
        <p:xfrm>
          <a:off x="914400" y="1300162"/>
          <a:ext cx="10363200" cy="3255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76677720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85463919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340895111"/>
                    </a:ext>
                  </a:extLst>
                </a:gridCol>
              </a:tblGrid>
              <a:tr h="651159">
                <a:tc>
                  <a:txBody>
                    <a:bodyPr/>
                    <a:lstStyle/>
                    <a:p>
                      <a:r>
                        <a:rPr lang="es-ES" dirty="0"/>
                        <a:t>OFICIO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CAMPO DE TRABAJO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POSIBILIDAD DE NEGOCIO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780795"/>
                  </a:ext>
                </a:extLst>
              </a:tr>
              <a:tr h="651159">
                <a:tc>
                  <a:txBody>
                    <a:bodyPr/>
                    <a:lstStyle/>
                    <a:p>
                      <a:r>
                        <a:rPr lang="es-ES" dirty="0"/>
                        <a:t>Carpintería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Muebles y 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17913"/>
                  </a:ext>
                </a:extLst>
              </a:tr>
              <a:tr h="651159">
                <a:tc>
                  <a:txBody>
                    <a:bodyPr/>
                    <a:lstStyle/>
                    <a:p>
                      <a:r>
                        <a:rPr lang="es-ES" dirty="0"/>
                        <a:t>Panadería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Producción de alimentos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313086"/>
                  </a:ext>
                </a:extLst>
              </a:tr>
              <a:tr h="651159">
                <a:tc>
                  <a:txBody>
                    <a:bodyPr/>
                    <a:lstStyle/>
                    <a:p>
                      <a:r>
                        <a:rPr lang="es-ES" dirty="0"/>
                        <a:t>Costura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Moda y confección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468845"/>
                  </a:ext>
                </a:extLst>
              </a:tr>
              <a:tr h="651159">
                <a:tc>
                  <a:txBody>
                    <a:bodyPr/>
                    <a:lstStyle/>
                    <a:p>
                      <a:r>
                        <a:rPr lang="es-ES" dirty="0"/>
                        <a:t>Reparación de celulares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Tecnología y electrónica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165908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C191C54-26FD-46EF-B7E9-8FC87693BD96}"/>
              </a:ext>
            </a:extLst>
          </p:cNvPr>
          <p:cNvSpPr/>
          <p:nvPr/>
        </p:nvSpPr>
        <p:spPr>
          <a:xfrm>
            <a:off x="1299410" y="5047377"/>
            <a:ext cx="6096000" cy="10209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Característica común</a:t>
            </a: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419" dirty="0">
                <a:latin typeface="Arial" panose="020B0604020202020204" pitchFamily="34" charset="0"/>
                <a:ea typeface="Arial" panose="020B0604020202020204" pitchFamily="34" charset="0"/>
              </a:rPr>
              <a:t>Todos estos oficios permiten generar ingresos, desarrollar habilidades prácticas y fomentar el emprendimiento.</a:t>
            </a: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64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3AE47-B276-4C57-AE0E-B1780C3C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s-ES" dirty="0"/>
              <a:t>conclusiones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5534C6-88C4-4988-87D3-BD431EA0B8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35242"/>
            <a:ext cx="10363826" cy="4555957"/>
          </a:xfrm>
        </p:spPr>
        <p:txBody>
          <a:bodyPr>
            <a:normAutofit fontScale="70000" lnSpcReduction="20000"/>
          </a:bodyPr>
          <a:lstStyle/>
          <a:p>
            <a:r>
              <a:rPr lang="es-419" dirty="0"/>
              <a:t>• Los oficios son una alternativa de formación práctica y accesible. • Permiten adquirir habilidades útiles para la vida diaria y laboral. • Favorecen la independencia económica. • Ayudan a generar ingresos mediante empleo o emprendimiento. • Contribuyen al desarrollo personal y social.</a:t>
            </a:r>
            <a:endParaRPr lang="es-MX" dirty="0"/>
          </a:p>
          <a:p>
            <a:r>
              <a:rPr lang="es-419" dirty="0"/>
              <a:t>Reflexión Final</a:t>
            </a:r>
            <a:endParaRPr lang="es-MX" dirty="0"/>
          </a:p>
          <a:p>
            <a:r>
              <a:rPr lang="es-419" dirty="0"/>
              <a:t>Aprender un oficio no solo brinda conocimientos prácticos, sino también oportunidades para construir un mejor futuro mediante el trabajo, la creatividad y el esfuerzo.</a:t>
            </a:r>
            <a:endParaRPr lang="es-MX" dirty="0"/>
          </a:p>
          <a:p>
            <a:r>
              <a:rPr lang="es-419" dirty="0"/>
              <a:t>Sugerencias de imágenes para cada diapositiva:</a:t>
            </a:r>
            <a:endParaRPr lang="es-MX" dirty="0"/>
          </a:p>
          <a:p>
            <a:r>
              <a:rPr lang="es-419" dirty="0"/>
              <a:t>Portada: personas trabajando en distintos oficios.</a:t>
            </a:r>
            <a:endParaRPr lang="es-MX" dirty="0"/>
          </a:p>
          <a:p>
            <a:r>
              <a:rPr lang="es-419" dirty="0"/>
              <a:t>Carpintería: carpintero construyendo un mueble.</a:t>
            </a:r>
            <a:endParaRPr lang="es-MX" dirty="0"/>
          </a:p>
          <a:p>
            <a:r>
              <a:rPr lang="es-419" dirty="0"/>
              <a:t>Panadería: elaboración de pan en un horno.</a:t>
            </a:r>
            <a:endParaRPr lang="es-MX" dirty="0"/>
          </a:p>
          <a:p>
            <a:r>
              <a:rPr lang="es-419" dirty="0"/>
              <a:t>Costura: persona utilizando una máquina de coser.</a:t>
            </a:r>
            <a:endParaRPr lang="es-MX" dirty="0"/>
          </a:p>
          <a:p>
            <a:r>
              <a:rPr lang="es-419" dirty="0"/>
              <a:t>Reparación de celulares: técnico reparando un teléfono.</a:t>
            </a:r>
            <a:endParaRPr lang="es-MX" dirty="0"/>
          </a:p>
          <a:p>
            <a:r>
              <a:rPr lang="es-419" dirty="0"/>
              <a:t>Comparación: collage con los cuatro oficios.</a:t>
            </a:r>
            <a:endParaRPr lang="es-MX" dirty="0"/>
          </a:p>
          <a:p>
            <a:r>
              <a:rPr lang="es-419" dirty="0"/>
              <a:t>Conclusión: personas emprendiendo o trabajando con éxito.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6175426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588</TotalTime>
  <Words>911</Words>
  <Application>Microsoft Office PowerPoint</Application>
  <PresentationFormat>Panorámica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Algerian</vt:lpstr>
      <vt:lpstr>Arial</vt:lpstr>
      <vt:lpstr>Bernard MT Condensed</vt:lpstr>
      <vt:lpstr>Bodoni MT Black</vt:lpstr>
      <vt:lpstr>Book Antiqua</vt:lpstr>
      <vt:lpstr>Tw Cen MT</vt:lpstr>
      <vt:lpstr>Gota</vt:lpstr>
      <vt:lpstr> Colegio de estudios científicos y tecnológicos del estado de México plantel cecytem  proyecto: cecytos web (oficios para el desarrollo personal y laboral)  equipo: maria de jesus piña dominguez Jonathan rosas francisco Kenia tenorio Severiano Tania tenorio Severiano Brenda Uribe Enríquez Gabriel Vázquez  modulo 2: implementa bases de datos no relacionales</vt:lpstr>
      <vt:lpstr>Objetivo: Conocer diferentes oficios que permiten desarrollar habilidades prácticas, generar ingresos y fomentar el emprendimiento. </vt:lpstr>
      <vt:lpstr>CARPINTERIA</vt:lpstr>
      <vt:lpstr>BENEFICIOS de la Carpintería</vt:lpstr>
      <vt:lpstr>Panadería</vt:lpstr>
      <vt:lpstr>Beneficios de la Panadería</vt:lpstr>
      <vt:lpstr> Costura</vt:lpstr>
      <vt:lpstr>Beneficios de la Costura </vt:lpstr>
      <vt:lpstr>Reparación de Celulares </vt:lpstr>
      <vt:lpstr>Beneficios de la Reparación de Celulares</vt:lpstr>
      <vt:lpstr>COMPARACION DE OFICIOS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</dc:title>
  <dc:creator>maria de jesus piña dominguez</dc:creator>
  <cp:lastModifiedBy>maria de jesus piña dominguez</cp:lastModifiedBy>
  <cp:revision>13</cp:revision>
  <dcterms:created xsi:type="dcterms:W3CDTF">2026-06-08T19:52:46Z</dcterms:created>
  <dcterms:modified xsi:type="dcterms:W3CDTF">2026-06-09T05:41:40Z</dcterms:modified>
</cp:coreProperties>
</file>